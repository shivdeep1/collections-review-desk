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866f7df7548f5" /><Relationship Type="http://schemas.openxmlformats.org/officeDocument/2006/relationships/extended-properties" Target="/docProps/app.xml" Id="R6839ac8835d8428a" /><Relationship Type="http://schemas.openxmlformats.org/officeDocument/2006/relationships/officeDocument" Target="/ppt/presentation.xml" Id="R8340144896d8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9ba2561ca14340"/>
  </p:sldMasterIdLst>
  <p:notesMasterIdLst>
    <p:notesMasterId xmlns:r="http://schemas.openxmlformats.org/officeDocument/2006/relationships" r:id="R61c2d7422d8e4ca7"/>
  </p:notesMasterIdLst>
  <p:sldIdLst>
    <p:sldId xmlns:r="http://schemas.openxmlformats.org/officeDocument/2006/relationships" id="256" r:id="R54eb023b38514a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0aa6b13b74fe0" /><Relationship Type="http://schemas.openxmlformats.org/officeDocument/2006/relationships/slideMaster" Target="/ppt/slideMasters/slideMaster1.xml" Id="Rd99ba2561ca14340" /><Relationship Type="http://schemas.openxmlformats.org/officeDocument/2006/relationships/notesMaster" Target="/ppt/notesMasters/notesMaster1.xml" Id="R61c2d7422d8e4ca7" /><Relationship Type="http://schemas.openxmlformats.org/officeDocument/2006/relationships/presProps" Target="/ppt/presProps.xml" Id="R9591f87a5676403b" /><Relationship Type="http://schemas.openxmlformats.org/officeDocument/2006/relationships/tableStyles" Target="/ppt/tableStyles.xml" Id="R44bc97d43cef4c28" /><Relationship Type="http://schemas.openxmlformats.org/officeDocument/2006/relationships/slide" Target="/ppt/slides/slide1.xml" Id="R54eb023b3851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cc305b954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9f5190dd64daf" /><Relationship Type="http://schemas.openxmlformats.org/officeDocument/2006/relationships/notesMaster" Target="/ppt/notesMasters/notesMaster1.xml" Id="Rccd751556b2e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A bank collections quality supervisor must compare a collector note against the conversation and policy, then complete documented follow-up.</a:t>
            </a:r>
          </a:p>
          <a:p xmlns:a="http://schemas.openxmlformats.org/drawingml/2006/main">
            <a:r>
              <a:t>AI: Live Gemini 3 Flash Preview semantic review; deterministic exact-quote, policy-reference and directory checks. Humans retain action authority.</a:t>
            </a:r>
          </a:p>
          <a:p xmlns:a="http://schemas.openxmlformats.org/drawingml/2006/main">
            <a:r>
              <a:t>Impact to test: supervisor review time, missed material concerns and false concerns. No bank-wide ROI claim.</a:t>
            </a:r>
          </a:p>
          <a:p xmlns:a="http://schemas.openxmlformats.org/drawingml/2006/main">
            <a:r>
              <a:t>Assumptions: synthetic transcripts, supplied demonstration policy and directory; local simulated follow-up system and demo personas.</a:t>
            </a:r>
          </a:p>
          <a:p xmlns:a="http://schemas.openxmlformats.org/drawingml/2006/main">
            <a:r>
              <a:t>Validation: four synthetic scenarios in docs/verification/live-evaluation.json. One run per scenario is not production validation.</a:t>
            </a:r>
          </a:p>
          <a:p xmlns:a="http://schemas.openxmlformats.org/drawingml/2006/main">
            <a:r>
              <a:t>Commercial category evidence: Credgenics $50m Series B and named bank clients including ICICI: https://www.credgenics.com/credgenics-raises-50-mn-funding-in-series-b ; Convin Kotak Life call-audit case study: https://www.convin.ai/en-us/case-studies/how-kotak-life-scaled-call-audits-from-5-to-100-with-agentic-ai . These are vendor claims and not endorsements of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d22d6c0884b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269bb40d74912" /><Relationship Type="http://schemas.openxmlformats.org/officeDocument/2006/relationships/slideLayout" Target="/ppt/slideLayouts/slideLayout1.xml" Id="R116568a2b933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6568a2b933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a08a4a19b49f7" /><Relationship Type="http://schemas.openxmlformats.org/officeDocument/2006/relationships/notesSlide" Target="/ppt/notesSlides/notesSlide1.xml" Id="Rdafde256cb36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11E64-CB8B-4EA8-8C46-53B5710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EF"/>
                </a:solidFill>
                <a:latin typeface="Arial"/>
                <a:ea typeface="Arial"/>
                <a:cs typeface="Arial"/>
              </a:rPr>
              <a:t>Collections Review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89C3D-DEC8-4513-846C-F7B99598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A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AC2"/>
                </a:solidFill>
                <a:latin typeface="Arial"/>
                <a:ea typeface="Arial"/>
                <a:cs typeface="Arial"/>
              </a:rPr>
              <a:t>AI-assisted call review with a recorded supervisor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449B-DFD0-4DE4-B08E-63F6C04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B369E-7FC1-4500-9B71-D8973328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604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A case note claims a promise to pay. The customer disputes the amount. A supervisor needs the conversation evidence before acting.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478F6-32EC-4003-8C4A-0ABD91AA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AI REVIEW AND A COMPLETED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9A118-72BC-4BED-82B3-E704494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Gemini compares the transcript, note, loan context and supplied policy. The app validates exact quotes and checks the payment directory.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156E8-9874-4D45-ACD7-E1BB14E2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The supervisor approves a proposed next step. The app saves the follow-up with its evidence version and decision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B3A45-8DBB-4CE4-8B13-708394D2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85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D9EEB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D9EEB9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A5D02-0626-49FF-9021-78420FD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Synthetic scenarios met expected outcomes in the live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573E1-071F-47A3-A704-7D37117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C9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9AC"/>
                </a:solidFill>
                <a:latin typeface="Arial"/>
                <a:ea typeface="Arial"/>
                <a:cs typeface="Arial"/>
              </a:rPr>
              <a:t>A small smoke evaluation, not a production accuracy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EA67D-FE1A-4B4A-958F-F1092A91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FIRST BANK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9B467-B33E-4A12-805A-B249C8A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Historical calls and supervisor review. Measure missed concerns, false alarms and review time. Connect the existing case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86CA-A0D0-4788-9BBE-ECD77B9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2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BC2A5"/>
                </a:solidFill>
                <a:latin typeface="Arial"/>
                <a:ea typeface="Arial"/>
                <a:cs typeface="Arial"/>
              </a:rPr>
              <a:t>Synthetic evidence only. Demo personas and bank follow-up queues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2029933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2026-09-26T08:20:40.4290000Z</dcterms:created>
  <dcterms:modified xsi:type="dcterms:W3CDTF">2026-09-26T08:20:40.4290000Z</dcterms:modified>
</coreProperties>
</file>