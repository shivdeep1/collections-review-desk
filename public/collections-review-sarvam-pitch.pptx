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c55f9e95e34553" /><Relationship Type="http://schemas.openxmlformats.org/officeDocument/2006/relationships/extended-properties" Target="/docProps/app.xml" Id="Rf5448529d73c452b" /><Relationship Type="http://schemas.openxmlformats.org/officeDocument/2006/relationships/officeDocument" Target="/ppt/presentation.xml" Id="R19bd62b235054e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9db08cc8e84e57"/>
  </p:sldMasterIdLst>
  <p:notesMasterIdLst>
    <p:notesMasterId xmlns:r="http://schemas.openxmlformats.org/officeDocument/2006/relationships" r:id="R6f3e7d4798e344a7"/>
  </p:notesMasterIdLst>
  <p:sldIdLst>
    <p:sldId xmlns:r="http://schemas.openxmlformats.org/officeDocument/2006/relationships" id="256" r:id="R8500893aab6f47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7798cd341640c4" /><Relationship Type="http://schemas.openxmlformats.org/officeDocument/2006/relationships/slideMaster" Target="/ppt/slideMasters/slideMaster1.xml" Id="R5f9db08cc8e84e57" /><Relationship Type="http://schemas.openxmlformats.org/officeDocument/2006/relationships/notesMaster" Target="/ppt/notesMasters/notesMaster1.xml" Id="R6f3e7d4798e344a7" /><Relationship Type="http://schemas.openxmlformats.org/officeDocument/2006/relationships/presProps" Target="/ppt/presProps.xml" Id="R302dda8adb754751" /><Relationship Type="http://schemas.openxmlformats.org/officeDocument/2006/relationships/tableStyles" Target="/ppt/tableStyles.xml" Id="R93b1edaa5d5c4620" /><Relationship Type="http://schemas.openxmlformats.org/officeDocument/2006/relationships/slide" Target="/ppt/slides/slide1.xml" Id="R8500893aab6f47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d86e8e68c54d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c59348660c4f60" /><Relationship Type="http://schemas.openxmlformats.org/officeDocument/2006/relationships/notesMaster" Target="/ppt/notesMasters/notesMaster1.xml" Id="Ra9c4f0fe771d46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Problem: A bank collections quality supervisor must compare a collector note against the conversation and policy, then complete documented follow-up.</a:t>
            </a:r>
          </a:p>
          <a:p xmlns:a="http://schemas.openxmlformats.org/drawingml/2006/main">
            <a:r>
              <a:t>AI: Live Gemini 3.5 Flash-Lite semantic review, with Sarvam Saaras v4 audio transcription and Bulbul v3 synthetic Hindi-English voices; deterministic exact-quote, policy-reference and directory checks. Humans retain action authority.</a:t>
            </a:r>
          </a:p>
          <a:p xmlns:a="http://schemas.openxmlformats.org/drawingml/2006/main">
            <a:r>
              <a:t>Impact to test: supervisor review time, missed material concerns and false concerns. No bank-wide ROI claim.</a:t>
            </a:r>
          </a:p>
          <a:p xmlns:a="http://schemas.openxmlformats.org/drawingml/2006/main">
            <a:r>
              <a:t>Assumptions: synthetic transcripts, supplied demonstration policy and directory; local simulated follow-up system and demo personas.</a:t>
            </a:r>
          </a:p>
          <a:p xmlns:a="http://schemas.openxmlformats.org/drawingml/2006/main">
            <a:r>
              <a:t>Validation: four synthetic scenarios in docs/verification/live-evaluation.json plus the targeted timeout retry in docs/verification/model-followup-v7.json. English and Hindi-English synthetic recordings tested. Speaker roles and payment-address spelling need human inspection and correction. Provider language coverage is not app-wide validation. These are not production validation.</a:t>
            </a:r>
          </a:p>
          <a:p xmlns:a="http://schemas.openxmlformats.org/drawingml/2006/main">
            <a:r>
              <a:t>Commercial category evidence: Credgenics $50m Series B and named bank clients including ICICI: https://www.credgenics.com/credgenics-raises-50-mn-funding-in-series-b ; Convin Kotak Life call-audit case study: https://www.convin.ai/en-us/case-studies/how-kotak-life-scaled-call-audits-from-5-to-100-with-agentic-ai . These are vendor claims and not endorsements of this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1db5d5998745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377c966079494b" /><Relationship Type="http://schemas.openxmlformats.org/officeDocument/2006/relationships/slideLayout" Target="/ppt/slideLayouts/slideLayout1.xml" Id="Rf841075c2ecb43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41075c2ecb43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f32cb44b94dab" /><Relationship Type="http://schemas.openxmlformats.org/officeDocument/2006/relationships/notesSlide" Target="/ppt/notesSlides/notesSlide1.xml" Id="R10327424f6b541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9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4C8DE-EC14-4FED-AACE-EC29903E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11096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5F7E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5F7EF"/>
                </a:solidFill>
                <a:latin typeface="Arial"/>
                <a:ea typeface="Arial"/>
                <a:cs typeface="Arial"/>
              </a:rPr>
              <a:t>Collections Review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5F215-E86C-4007-A2BE-BF6406B2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7DAC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DAC2"/>
                </a:solidFill>
                <a:latin typeface="Arial"/>
                <a:ea typeface="Arial"/>
                <a:cs typeface="Arial"/>
              </a:rPr>
              <a:t>AI-assisted call review with a recorded supervisor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097FD-69A2-48CF-A69C-3CDD5874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3357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DE6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DE6AE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08D97-16C6-49CF-AEC2-03345063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76475"/>
            <a:ext cx="604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5EE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5EEE0"/>
                </a:solidFill>
                <a:latin typeface="Arial"/>
                <a:ea typeface="Arial"/>
                <a:cs typeface="Arial"/>
              </a:rPr>
              <a:t>A case note claims a promise to pay. The customer disputes the amount. A supervisor needs the conversation evidence before acting.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8F334-3E8B-43A5-A8F0-F0B8B18F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604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DE6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DE6AE"/>
                </a:solidFill>
                <a:latin typeface="Arial"/>
                <a:ea typeface="Arial"/>
                <a:cs typeface="Arial"/>
              </a:rPr>
              <a:t>AI REVIEW AND A COMPLETED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B5F5F-1FB5-4C88-800A-5EF78CCA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6048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5EE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5EEE0"/>
                </a:solidFill>
                <a:latin typeface="Arial"/>
                <a:ea typeface="Arial"/>
                <a:cs typeface="Arial"/>
              </a:rPr>
              <a:t>Sarvam transcribes the call. A reviewer checks the draft. AI compares it with the note and policy; code checks quotes and payment destinations.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54F70-B3C2-4866-B532-68760809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60483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5EE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5EEE0"/>
                </a:solidFill>
                <a:latin typeface="Arial"/>
                <a:ea typeface="Arial"/>
                <a:cs typeface="Arial"/>
              </a:rPr>
              <a:t>The supervisor approves a proposed next step. The app saves the follow-up with its evidence version and decision history.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A5A6A-BBFC-4C76-85E8-8E459F3C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43100"/>
            <a:ext cx="3857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D9EEB9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D9EEB9"/>
                </a:solidFill>
                <a:latin typeface="Arial"/>
                <a:ea typeface="Arial"/>
                <a:cs typeface="Arial"/>
              </a:rPr>
              <a:t>4 /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815B4-049F-422B-BAB3-AE649ECF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67025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5EE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5EEE0"/>
                </a:solidFill>
                <a:latin typeface="Arial"/>
                <a:ea typeface="Arial"/>
                <a:cs typeface="Arial"/>
              </a:rPr>
              <a:t>Synthetic scenarios passed, with one timeout retried.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FFCC64-42D9-427D-82EA-D614D695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05225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3C9A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9AC"/>
                </a:solidFill>
                <a:latin typeface="Arial"/>
                <a:ea typeface="Arial"/>
                <a:cs typeface="Arial"/>
              </a:rPr>
              <a:t>A small smoke evaluation, not a production accuracy estimate.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17186-7C62-4C59-8D68-2B0EC3AB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DE6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DE6AE"/>
                </a:solidFill>
                <a:latin typeface="Arial"/>
                <a:ea typeface="Arial"/>
                <a:cs typeface="Arial"/>
              </a:rPr>
              <a:t>FIRST BANK 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E7D73-B25D-4052-8812-9A922DAB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19650"/>
            <a:ext cx="3905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5EE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5EEE0"/>
                </a:solidFill>
                <a:latin typeface="Arial"/>
                <a:ea typeface="Arial"/>
                <a:cs typeface="Arial"/>
              </a:rPr>
              <a:t>Historical calls and supervisor review. Measure missed concerns, false alarms and review time. Connect the existing case system.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97756-D50F-438C-A9D0-5BE38589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150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BC2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BC2A5"/>
                </a:solidFill>
                <a:latin typeface="Arial"/>
                <a:ea typeface="Arial"/>
                <a:cs typeface="Arial"/>
              </a:rPr>
              <a:t>Synthetic evidence only. Demo personas and bank follow-up queues are simulated.</a:t>
            </a:r>
          </a:p>
        </p:txBody>
      </p:sp>
    </p:spTree>
    <p:extLst>
      <p:ext uri="{BB962C8B-B14F-4D97-AF65-F5344CB8AC3E}">
        <p14:creationId xmlns:p14="http://schemas.microsoft.com/office/powerpoint/2010/main" val="17759225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2026-09-26T10:52:10.3510000Z</dcterms:created>
  <dcterms:modified xsi:type="dcterms:W3CDTF">2026-09-26T10:52:10.3510000Z</dcterms:modified>
</coreProperties>
</file>