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94e133c5742cf" /><Relationship Type="http://schemas.openxmlformats.org/officeDocument/2006/relationships/extended-properties" Target="/docProps/app.xml" Id="Rf5a31745f300465f" /><Relationship Type="http://schemas.openxmlformats.org/officeDocument/2006/relationships/officeDocument" Target="/ppt/presentation.xml" Id="R62626d1168dd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bf6b28f3544fc"/>
  </p:sldMasterIdLst>
  <p:notesMasterIdLst>
    <p:notesMasterId xmlns:r="http://schemas.openxmlformats.org/officeDocument/2006/relationships" r:id="R8c36a61e49ac4fd0"/>
  </p:notesMasterIdLst>
  <p:sldIdLst>
    <p:sldId xmlns:r="http://schemas.openxmlformats.org/officeDocument/2006/relationships" id="256" r:id="R05decdbabd6847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5c4b623aa4273" /><Relationship Type="http://schemas.openxmlformats.org/officeDocument/2006/relationships/slideMaster" Target="/ppt/slideMasters/slideMaster1.xml" Id="R376bf6b28f3544fc" /><Relationship Type="http://schemas.openxmlformats.org/officeDocument/2006/relationships/notesMaster" Target="/ppt/notesMasters/notesMaster1.xml" Id="R8c36a61e49ac4fd0" /><Relationship Type="http://schemas.openxmlformats.org/officeDocument/2006/relationships/presProps" Target="/ppt/presProps.xml" Id="R6458ff6e4da344b2" /><Relationship Type="http://schemas.openxmlformats.org/officeDocument/2006/relationships/tableStyles" Target="/ppt/tableStyles.xml" Id="Rc3d946713eba4630" /><Relationship Type="http://schemas.openxmlformats.org/officeDocument/2006/relationships/slide" Target="/ppt/slides/slide1.xml" Id="R05decdbabd68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d82cf9e284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e579fdf5e4f32" /><Relationship Type="http://schemas.openxmlformats.org/officeDocument/2006/relationships/notesMaster" Target="/ppt/notesMasters/notesMaster1.xml" Id="R3b29bd1cf421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A bank collections quality supervisor must compare a collector note against the conversation and policy, then complete documented follow-up.</a:t>
            </a:r>
          </a:p>
          <a:p xmlns:a="http://schemas.openxmlformats.org/drawingml/2006/main">
            <a:r>
              <a:t>AI: Live Gemini 3.5 Flash-Lite semantic review, with Gemini 3.1 Flash-Lite audio transcription; deterministic exact-quote, policy-reference and directory checks. Humans retain action authority.</a:t>
            </a:r>
          </a:p>
          <a:p xmlns:a="http://schemas.openxmlformats.org/drawingml/2006/main">
            <a:r>
              <a:t>Impact to test: supervisor review time, missed material concerns and false concerns. No bank-wide ROI claim.</a:t>
            </a:r>
          </a:p>
          <a:p xmlns:a="http://schemas.openxmlformats.org/drawingml/2006/main">
            <a:r>
              <a:t>Assumptions: synthetic transcripts, supplied demonstration policy and directory; local simulated follow-up system and demo personas.</a:t>
            </a:r>
          </a:p>
          <a:p xmlns:a="http://schemas.openxmlformats.org/drawingml/2006/main">
            <a:r>
              <a:t>Validation: four synthetic scenarios in docs/verification/live-evaluation.json plus the targeted timeout retry in docs/verification/model-followup.json. One synthetic English WAV tested for transcription. These are not production validation.</a:t>
            </a:r>
          </a:p>
          <a:p xmlns:a="http://schemas.openxmlformats.org/drawingml/2006/main">
            <a:r>
              <a:t>Commercial category evidence: Credgenics $50m Series B and named bank clients including ICICI: https://www.credgenics.com/credgenics-raises-50-mn-funding-in-series-b ; Convin Kotak Life call-audit case study: https://www.convin.ai/en-us/case-studies/how-kotak-life-scaled-call-audits-from-5-to-100-with-agentic-ai . These are vendor claims and not endorsements of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1789d680e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cabf1e2eb4059" /><Relationship Type="http://schemas.openxmlformats.org/officeDocument/2006/relationships/slideLayout" Target="/ppt/slideLayouts/slideLayout1.xml" Id="Re356fa18be4d42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6fa18be4d42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2f2709a9c44d3" /><Relationship Type="http://schemas.openxmlformats.org/officeDocument/2006/relationships/notesSlide" Target="/ppt/notesSlides/notesSlide1.xml" Id="R81382fbc24df41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7F556-A3C3-437B-B39B-C6B7B9F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7E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EF"/>
                </a:solidFill>
                <a:latin typeface="Arial"/>
                <a:ea typeface="Arial"/>
                <a:cs typeface="Arial"/>
              </a:rPr>
              <a:t>Collections Review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65D49-0295-46FA-B2FF-46E6AF5B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A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AC2"/>
                </a:solidFill>
                <a:latin typeface="Arial"/>
                <a:ea typeface="Arial"/>
                <a:cs typeface="Arial"/>
              </a:rPr>
              <a:t>AI-assisted call review with a recorded supervisor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80BF2-A105-4E07-93B5-D1FAD8F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640B3-43DE-4392-B827-021B4E3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604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A case note claims a promise to pay. The customer disputes the amount. A supervisor needs the conversation evidence before acting.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3294E-6332-4B40-BFB3-22460D1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AI REVIEW AND A COMPLETED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FB87C-460B-4097-85C3-0EC4EB6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Gemini transcribes the call. A reviewer checks the draft. AI compares it with the note and policy; code checks quotes and payment destinations.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93C02-A805-4F25-AF18-A9BB74A7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6048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The supervisor approves a proposed next step. The app saves the follow-up with its evidence version and decision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54B1E-107B-4E6C-998F-4BAA002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85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D9EEB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D9EEB9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984F2-520F-4E1A-8237-04E2693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Synthetic scenarios passed, with one timeout retried.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426B1-0E84-4B64-A6AA-01F103B9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3C9A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9AC"/>
                </a:solidFill>
                <a:latin typeface="Arial"/>
                <a:ea typeface="Arial"/>
                <a:cs typeface="Arial"/>
              </a:rPr>
              <a:t>A small smoke evaluation, not a production accuracy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DC94A-3AFD-42E0-9065-B6BB1A78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6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6AE"/>
                </a:solidFill>
                <a:latin typeface="Arial"/>
                <a:ea typeface="Arial"/>
                <a:cs typeface="Arial"/>
              </a:rPr>
              <a:t>FIRST BANK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CC2FF-5FF7-4EF3-8B84-74036CB9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EE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5EEE0"/>
                </a:solidFill>
                <a:latin typeface="Arial"/>
                <a:ea typeface="Arial"/>
                <a:cs typeface="Arial"/>
              </a:rPr>
              <a:t>Historical calls and supervisor review. Measure missed concerns, false alarms and review time. Connect the existing case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C86CE-1E01-442A-A0BC-17C8BA73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BC2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BC2A5"/>
                </a:solidFill>
                <a:latin typeface="Arial"/>
                <a:ea typeface="Arial"/>
                <a:cs typeface="Arial"/>
              </a:rPr>
              <a:t>Synthetic evidence only. Demo personas and bank follow-up queues are simulated.</a:t>
            </a:r>
          </a:p>
        </p:txBody>
      </p:sp>
    </p:spTree>
    <p:extLst>
      <p:ext uri="{BB962C8B-B14F-4D97-AF65-F5344CB8AC3E}">
        <p14:creationId xmlns:p14="http://schemas.microsoft.com/office/powerpoint/2010/main" val="867416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2026-09-26T10:18:08.4790000Z</dcterms:created>
  <dcterms:modified xsi:type="dcterms:W3CDTF">2026-09-26T10:18:08.4790000Z</dcterms:modified>
</coreProperties>
</file>