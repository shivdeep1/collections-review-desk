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ff62fd94c943fa" /><Relationship Type="http://schemas.openxmlformats.org/officeDocument/2006/relationships/extended-properties" Target="/docProps/app.xml" Id="R44f5cb67e6fa4f16" /><Relationship Type="http://schemas.openxmlformats.org/officeDocument/2006/relationships/officeDocument" Target="/ppt/presentation.xml" Id="R9a46ad2e8cd140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50ef1ba68141e0"/>
  </p:sldMasterIdLst>
  <p:notesMasterIdLst>
    <p:notesMasterId xmlns:r="http://schemas.openxmlformats.org/officeDocument/2006/relationships" r:id="R8c4a62b53d184b79"/>
  </p:notesMasterIdLst>
  <p:sldIdLst>
    <p:sldId xmlns:r="http://schemas.openxmlformats.org/officeDocument/2006/relationships" id="256" r:id="R81359f31b46c46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d3bd7f300b4288" /><Relationship Type="http://schemas.openxmlformats.org/officeDocument/2006/relationships/slideMaster" Target="/ppt/slideMasters/slideMaster1.xml" Id="R2450ef1ba68141e0" /><Relationship Type="http://schemas.openxmlformats.org/officeDocument/2006/relationships/notesMaster" Target="/ppt/notesMasters/notesMaster1.xml" Id="R8c4a62b53d184b79" /><Relationship Type="http://schemas.openxmlformats.org/officeDocument/2006/relationships/presProps" Target="/ppt/presProps.xml" Id="Re87b3d1f583e4d36" /><Relationship Type="http://schemas.openxmlformats.org/officeDocument/2006/relationships/tableStyles" Target="/ppt/tableStyles.xml" Id="R78b659789a014b9b" /><Relationship Type="http://schemas.openxmlformats.org/officeDocument/2006/relationships/slide" Target="/ppt/slides/slide1.xml" Id="R81359f31b46c46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a7728da8b14e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132b8990114bc2" /><Relationship Type="http://schemas.openxmlformats.org/officeDocument/2006/relationships/notesMaster" Target="/ppt/notesMasters/notesMaster1.xml" Id="Rfae33b1b7dfa41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Problem: A bank collections quality supervisor must compare a collector note against the conversation and policy, then complete documented follow-up.</a:t>
            </a:r>
          </a:p>
          <a:p xmlns:a="http://schemas.openxmlformats.org/drawingml/2006/main">
            <a:r>
              <a:t>AI: Sarvam Saaras v4 transcribes a synthetic Hindi-English call. A reviewer confirms speaker roles and words. Sarvam 105B reviews the accepted text; deterministic exact-quote, policy-reference and directory checks gate the report. Gemini is a manually selected backup. Humans retain action authority.</a:t>
            </a:r>
          </a:p>
          <a:p xmlns:a="http://schemas.openxmlformats.org/drawingml/2006/main">
            <a:r>
              <a:t>Impact to test: supervisor review time, missed material concerns and false concerns. No bank-wide ROI claim.</a:t>
            </a:r>
          </a:p>
          <a:p xmlns:a="http://schemas.openxmlformats.org/drawingml/2006/main">
            <a:r>
              <a:t>Assumptions: synthetic transcripts, supplied demonstration policy and directory; local simulated follow-up system and demo personas.</a:t>
            </a:r>
          </a:p>
          <a:p xmlns:a="http://schemas.openxmlformats.org/drawingml/2006/main">
            <a:r>
              <a:t>Validation: four synthetic case scenarios passed in docs/verification/live-evaluation.json. A saved Hindi-English audio review and supervisor decision exist in the local case. One later Sarvam audio rerun failed citation validation and left that saved report unchanged. Speaker roles and payment-address spelling need human inspection. These are not production validation.</a:t>
            </a:r>
          </a:p>
          <a:p xmlns:a="http://schemas.openxmlformats.org/drawingml/2006/main">
            <a:r>
              <a:t>Commercial category evidence: Credgenics $50m Series B and named bank clients including ICICI: https://www.credgenics.com/credgenics-raises-50-mn-funding-in-series-b ; Convin Kotak Life call-audit case study: https://www.convin.ai/en-us/case-studies/how-kotak-life-scaled-call-audits-from-5-to-100-with-agentic-ai . These are vendor claims and not endorsements of this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c357fd385541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9710e51ec8458e" /><Relationship Type="http://schemas.openxmlformats.org/officeDocument/2006/relationships/slideLayout" Target="/ppt/slideLayouts/slideLayout1.xml" Id="R59e8cf8715804a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e8cf8715804a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858215714d42ff" /><Relationship Type="http://schemas.openxmlformats.org/officeDocument/2006/relationships/notesSlide" Target="/ppt/notesSlides/notesSlide1.xml" Id="Rd75630eb292646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9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120BAC-1B7F-4CB9-ADFA-041FED3C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11096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5F7E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5F7EF"/>
                </a:solidFill>
                <a:latin typeface="Arial"/>
                <a:ea typeface="Arial"/>
                <a:cs typeface="Arial"/>
              </a:rPr>
              <a:t>Collections Review Desk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A5DFD6-29B5-4513-AD1F-F6EC1E95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7DAC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7DAC2"/>
                </a:solidFill>
                <a:latin typeface="Arial"/>
                <a:ea typeface="Arial"/>
                <a:cs typeface="Arial"/>
              </a:rPr>
              <a:t>AI-assisted call review with a recorded supervisor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B3E398-8055-4BD2-8AD1-96D2428E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3357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DE6A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DE6AE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1BA3B7-800C-4C10-8D45-2136771C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76475"/>
            <a:ext cx="6048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5EEE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5EEE0"/>
                </a:solidFill>
                <a:latin typeface="Arial"/>
                <a:ea typeface="Arial"/>
                <a:cs typeface="Arial"/>
              </a:rPr>
              <a:t>A case note claims a promise to pay. The customer disputes the amount. A supervisor needs the conversation evidence before acting.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D855E4-0135-483B-91CB-C525DDCC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05200"/>
            <a:ext cx="604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DE6A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DE6AE"/>
                </a:solidFill>
                <a:latin typeface="Arial"/>
                <a:ea typeface="Arial"/>
                <a:cs typeface="Arial"/>
              </a:rPr>
              <a:t>THE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6100E9-3C1A-4E38-B939-D55931C5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29050"/>
            <a:ext cx="60483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5EEE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5EEE0"/>
                </a:solidFill>
                <a:latin typeface="Arial"/>
                <a:ea typeface="Arial"/>
                <a:cs typeface="Arial"/>
              </a:rPr>
              <a:t>Sarvam transcribes the Hindi-English call. A reviewer checks the words and speaker roles. Sarvam 105B compares the accepted transcript with the note and policy.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D96928-9246-4F9E-8D34-D34B5C28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29200"/>
            <a:ext cx="60483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5EEE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5EEE0"/>
                </a:solidFill>
                <a:latin typeface="Arial"/>
                <a:ea typeface="Arial"/>
                <a:cs typeface="Arial"/>
              </a:rPr>
              <a:t>Code verifies quotations and payment addresses. The supervisor approves the next step; the app saves the decision and follow-up.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4E1186-8746-4E49-B1D8-3366169E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43100"/>
            <a:ext cx="3857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D9EEB9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D9EEB9"/>
                </a:solidFill>
                <a:latin typeface="Arial"/>
                <a:ea typeface="Arial"/>
                <a:cs typeface="Arial"/>
              </a:rPr>
              <a:t>4 / 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31B33B-8568-4CC1-B8A6-034BE56F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67025"/>
            <a:ext cx="3905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5EEE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5EEE0"/>
                </a:solidFill>
                <a:latin typeface="Arial"/>
                <a:ea typeface="Arial"/>
                <a:cs typeface="Arial"/>
              </a:rPr>
              <a:t>Synthetic case smoke checks passed with Sarvam 105B.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955901-CBBE-4F0F-8B87-7468B7FC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05225"/>
            <a:ext cx="3905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3C9A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9AC"/>
                </a:solidFill>
                <a:latin typeface="Arial"/>
                <a:ea typeface="Arial"/>
                <a:cs typeface="Arial"/>
              </a:rPr>
              <a:t>A small smoke evaluation, not a production accuracy estimate.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543679-DA7C-4AC3-A6E8-422CA88B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767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DE6A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DE6AE"/>
                </a:solidFill>
                <a:latin typeface="Arial"/>
                <a:ea typeface="Arial"/>
                <a:cs typeface="Arial"/>
              </a:rPr>
              <a:t>FIRST BANK PILOT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082F64-79AD-4E7E-AEEE-CE6E4C97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19650"/>
            <a:ext cx="3905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5EEE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5EEE0"/>
                </a:solidFill>
                <a:latin typeface="Arial"/>
                <a:ea typeface="Arial"/>
                <a:cs typeface="Arial"/>
              </a:rPr>
              <a:t>Historical calls and supervisor review. Measure missed concerns, false alarms and review time. Connect the existing case system.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B306C6-B5AA-4999-BAAC-4361A702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150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BC2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BC2A5"/>
                </a:solidFill>
                <a:latin typeface="Arial"/>
                <a:ea typeface="Arial"/>
                <a:cs typeface="Arial"/>
              </a:rPr>
              <a:t>Synthetic evidence only. Demo personas and bank follow-up queues are simulated.</a:t>
            </a:r>
          </a:p>
        </p:txBody>
      </p:sp>
    </p:spTree>
    <p:extLst>
      <p:ext uri="{BB962C8B-B14F-4D97-AF65-F5344CB8AC3E}">
        <p14:creationId xmlns:p14="http://schemas.microsoft.com/office/powerpoint/2010/main" val="3134349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2026-09-26T11:33:50.9800000Z</dcterms:created>
  <dcterms:modified xsi:type="dcterms:W3CDTF">2026-09-26T11:33:50.9800000Z</dcterms:modified>
</coreProperties>
</file>